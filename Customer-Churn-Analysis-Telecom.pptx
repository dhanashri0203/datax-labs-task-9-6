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ontserrat Bold"/>
      <p:regular r:id="rId201314"/>
    </p:embeddedFont>
    <p:embeddedFont>
      <p:font typeface="Source Sans 3"/>
      <p:regular r:id="rId201315"/>
    </p:embeddedFont>
    <p:embeddedFont>
      <p:font typeface="Source Sans 3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2381845"/>
            <a:ext cx="6180181" cy="116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Churn Analysis — Telecom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19814" y="3859113"/>
            <a:ext cx="6180181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Data Analytics Internship — Task 6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Prepared by Dhanashri Dhaygude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278037"/>
            <a:ext cx="6180181" cy="467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2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91700" y="2053927"/>
            <a:ext cx="6180181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Customer churn = subscribers who stop using a telecom service. This project develops a repeatable process to detect customers at elevated churn risk and deliver actionable retention recommendations.  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291700" y="3210719"/>
            <a:ext cx="1922910" cy="2369245"/>
          </a:xfrm>
          <a:prstGeom prst="roundRect">
            <a:avLst>
              <a:gd name="adj" fmla="val 1605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5497375" y="3416399"/>
            <a:ext cx="1511560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Scope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97375" y="3831927"/>
            <a:ext cx="1511560" cy="154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Behavioral analysis + predictive model for churn probability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20285" y="3210719"/>
            <a:ext cx="1922910" cy="2369245"/>
          </a:xfrm>
          <a:prstGeom prst="roundRect">
            <a:avLst>
              <a:gd name="adj" fmla="val 1605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7625961" y="3416399"/>
            <a:ext cx="1511560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Outcome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25961" y="3831927"/>
            <a:ext cx="1511560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Rank customers by risk and produce targeted segments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548871" y="3210719"/>
            <a:ext cx="1922910" cy="2369245"/>
          </a:xfrm>
          <a:prstGeom prst="roundRect">
            <a:avLst>
              <a:gd name="adj" fmla="val 1605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9754547" y="3416399"/>
            <a:ext cx="1511560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 case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754547" y="3831927"/>
            <a:ext cx="1511560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 retention campaigns and resource prioritization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2136279"/>
            <a:ext cx="4562361" cy="25853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0361" y="1899841"/>
            <a:ext cx="5687771" cy="467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2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790361" y="2572941"/>
            <a:ext cx="5687771" cy="2518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churn patterns in Telco customer data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features correlated with churn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 a Logistic Regression classifier to predict churn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Estimate individual churn probabilities and flag high-risk customers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Segment customers into At Risk, Dormant, and Loyal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SHAP for model explainability and feature insights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586508"/>
            <a:ext cx="10752067" cy="467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2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 &amp; Tools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19814" y="2465288"/>
            <a:ext cx="10752067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Telco Customer Churn dataset — core fields: tenure, contract, internetService, paymentMethod, monthlyCharges, totalCharges, service flags.   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3313609"/>
            <a:ext cx="723584" cy="4471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00468" y="3313609"/>
            <a:ext cx="1514536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Pandas / NumPy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700468" y="4021336"/>
            <a:ext cx="1514536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cleaning, transformation, initial aggregation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073" y="3313609"/>
            <a:ext cx="723584" cy="4471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52727" y="3313609"/>
            <a:ext cx="151453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Scikit-learn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452727" y="3729137"/>
            <a:ext cx="1514536" cy="154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Preprocessing pipeline + Logistic Regression model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333" y="3313609"/>
            <a:ext cx="723584" cy="4471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04986" y="3313609"/>
            <a:ext cx="151453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SHAP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7204986" y="3729137"/>
            <a:ext cx="1514536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importance and per-customer explanations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592" y="3313609"/>
            <a:ext cx="723584" cy="4471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957245" y="3313609"/>
            <a:ext cx="1514636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957245" y="4021336"/>
            <a:ext cx="1514636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Colab for development, reproducible notebooks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2295624"/>
            <a:ext cx="3999705" cy="2266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27705" y="1437084"/>
            <a:ext cx="6250426" cy="467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2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Cleaning &amp; Preprocessing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27705" y="2110184"/>
            <a:ext cx="6250426" cy="3444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Converted TotalCharges from text to numeric; handled conversion errors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Removed duplicates and imputed or dropped missing values where necessary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Encoded Churn as binary: 1 = Yes, 0 = No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One-hot encoded categorical variables (contract, internetService, paymentMethod, etc.)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Train/test split: 80% training, 20% testing with stratification on Churn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a preprocessing pipeline to ensure consistent transforms in production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602655"/>
            <a:ext cx="6180181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2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Exploratory Data Analysis — Key findings</a:t>
            </a:r>
            <a:endParaRPr lang="en-US" sz="2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1693863"/>
            <a:ext cx="462745" cy="4627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90814" y="1693863"/>
            <a:ext cx="5509182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Tenure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390814" y="2056705"/>
            <a:ext cx="5509182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Higher churn among short-tenure (&lt;6 months) customers; tenure is a strong negative correlate.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2917527"/>
            <a:ext cx="462745" cy="4627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90814" y="2917527"/>
            <a:ext cx="5509182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Monthly Charges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390814" y="3280370"/>
            <a:ext cx="5509182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Elevated monthly charges correlate with slightly higher churn—likely price sensitivity.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814" y="4141192"/>
            <a:ext cx="462745" cy="4627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90814" y="4141192"/>
            <a:ext cx="5509182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Contract Type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390814" y="4504035"/>
            <a:ext cx="5509182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Month-to-month contracts show materially higher churn rates vs. 1- or 2-year contracts.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9814" y="5364857"/>
            <a:ext cx="462745" cy="4627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90814" y="5364857"/>
            <a:ext cx="5509182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 Support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1390814" y="5727700"/>
            <a:ext cx="5509182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Absence of technical support or premium services increases churn likelihood.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452463"/>
            <a:ext cx="5687771" cy="467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2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Churn Prediction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19814" y="2125563"/>
            <a:ext cx="5687771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Model: Logistic Regression trained on numerical and encoded categorical features. A preprocessing pipeline handled scaling and one-hot encoding so production inputs map directly to model features.       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9814" y="3544491"/>
            <a:ext cx="5687771" cy="1994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Output: class prediction (churn / no churn) and predict_proba() churn probability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Decision threshold: default 0.5 for binary classification; project uses a custom 0.7 threshold for 'At Risk' tagging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simplicity chosen for interpretability and quick deployment in internship context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771" y="2136279"/>
            <a:ext cx="4562361" cy="25853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131888"/>
            <a:ext cx="6180181" cy="467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2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 Evaluation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91700" y="1907778"/>
            <a:ext cx="6180181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Performance was evaluated on the held-out test set using accuracy, precision, recall, and F1-score. A confusion matrix illustrated false positives vs false negatives to guide threshold choices for retention actions.  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291700" y="3373041"/>
            <a:ext cx="2987203" cy="2352973"/>
          </a:xfrm>
          <a:prstGeom prst="roundRect">
            <a:avLst>
              <a:gd name="adj" fmla="val 1311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5497375" y="3578721"/>
            <a:ext cx="2575853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multiple metrics?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97375" y="4286448"/>
            <a:ext cx="2575853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Churn is often imbalanced—precision/recall trade-offs matter for campaign cost vs. coverage.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84578" y="3373041"/>
            <a:ext cx="2987303" cy="2352973"/>
          </a:xfrm>
          <a:prstGeom prst="roundRect">
            <a:avLst>
              <a:gd name="adj" fmla="val 1311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8690254" y="3578721"/>
            <a:ext cx="257595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Practical focus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90254" y="3994249"/>
            <a:ext cx="2575952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 recall for At Risk detection while keeping precision acceptable to limit wasted outreach.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1976834"/>
            <a:ext cx="5125116" cy="2904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3115" y="1064518"/>
            <a:ext cx="5125116" cy="934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2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Explainability &amp; High-Risk Criteria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353115" y="2205038"/>
            <a:ext cx="5125116" cy="154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SHAP was used to interpret global and per-customer drivers of churn. Top contributing features (example): short tenure, month-to-month contract, multiple service cancellations, high monthly charges, and lack of tech support.       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53115" y="3932436"/>
            <a:ext cx="5125116" cy="1994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High-risk rule: predicted churn probability ≥ 70% → label "At Risk"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Export: high_risk_customers.csv with probabilities, SHAP explanations, and recommended intervention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Threshold is project-defined and adjustable to balance outreach capacity and recall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115020"/>
            <a:ext cx="6180181" cy="74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2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Segmentation &amp; Recommended Actions</a:t>
            </a:r>
            <a:endParaRPr lang="en-US" sz="2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700" y="2060178"/>
            <a:ext cx="1972320" cy="27581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51448" y="2243733"/>
            <a:ext cx="1529022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15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 Risk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5551448" y="2556470"/>
            <a:ext cx="1529022" cy="2078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Definition: predicted churn probability ≥ 70%.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Actions: proactive retention calls, personalized discounts, immediate technical support outreach.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5581" y="2060178"/>
            <a:ext cx="1972320" cy="27581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5329" y="2243733"/>
            <a:ext cx="1529022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15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Dormant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7655329" y="2556470"/>
            <a:ext cx="1529022" cy="185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Definition: tenure ≤ 6 months and not At Risk.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Actions: onboarding checks, product education, limited-time incentives to increase engagement.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462" y="2060178"/>
            <a:ext cx="1972320" cy="27581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59210" y="2243733"/>
            <a:ext cx="1529022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15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Loyal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9759210" y="2556470"/>
            <a:ext cx="1529022" cy="185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Definition: remaining customers with low predicted churn probability.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Actions: upsell/cross-sell campaigns and loyalty rewards to sustain retention.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5291700" y="4966395"/>
            <a:ext cx="6180181" cy="776486"/>
          </a:xfrm>
          <a:prstGeom prst="roundRect">
            <a:avLst>
              <a:gd name="adj" fmla="val 3179"/>
            </a:avLst>
          </a:prstGeom>
          <a:solidFill>
            <a:srgbClr val="E4E4E7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6200" y="5147469"/>
            <a:ext cx="205675" cy="16450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826376" y="5139035"/>
            <a:ext cx="5481004" cy="44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Next steps: tune threshold with business stakeholders, run A/B tests for interventions, and operationalize the pipeline for ongoing scoring.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2026-09-25T08:50:52Z</dcterms:created>
  <dcterms:modified xsi:type="dcterms:W3CDTF">2026-09-25T08:50:52Z</dcterms:modified>
</cp:coreProperties>
</file>